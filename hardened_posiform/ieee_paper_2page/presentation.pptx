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solidFill>
              <a:srgbClr val="F8F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73152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08960"/>
            <a:ext cx="12191695" cy="36576"/>
          </a:xfrm>
          <a:prstGeom prst="rect">
            <a:avLst/>
          </a:prstGeom>
          <a:solidFill>
            <a:srgbClr val="E57300"/>
          </a:solidFill>
          <a:ln>
            <a:solidFill>
              <a:srgbClr val="E57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E57300"/>
                </a:solidFill>
                <a:latin typeface="Malgun Gothic"/>
              </a:rPr>
              <a:t>CISC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1F3A68"/>
                </a:solidFill>
                <a:latin typeface="Malgun Gothic"/>
              </a:rPr>
              <a:t>Hardened Posiform QUBO의 α-난이도 분광법: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  <a:latin typeface="Malgun Gothic"/>
              </a:rPr>
              <a:t>Hamming 거리와 에너지 차이의 상호보완 진단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0">
                <a:solidFill>
                  <a:srgbClr val="555555"/>
                </a:solidFill>
                <a:latin typeface="Malgun Gothic"/>
              </a:rPr>
              <a:t>Dual-Metric Spectroscopy of Hardened Posiform QUBOs: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0">
                <a:solidFill>
                  <a:srgbClr val="555555"/>
                </a:solidFill>
                <a:latin typeface="Malgun Gothic"/>
              </a:rPr>
              <a:t>Hamming Distance and Energy Gap as Complementary Diagnostics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101010"/>
                </a:solidFill>
                <a:latin typeface="Malgun Gothic"/>
              </a:rPr>
              <a:t>김이든   Yideun Kim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Malgun Gothic"/>
              </a:rPr>
              <a:t>Department of Computer Science · Kangwon National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Malgun Gothic"/>
              </a:rPr>
              <a:t>rladlems1031@gmail.com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Background — Hardened Posiform Planting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HD + ΔE Dual-Metric α-Difficulty Spectroscopy — Yideun Kim, KNU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2801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algun Gothic"/>
              </a:rPr>
              <a:t>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3385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algun Gothic"/>
              </a:rPr>
              <a:t>Known-ground-state QUBO 벤치마크 — α로 난이도 조절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554480"/>
            <a:ext cx="7589520" cy="100584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691640"/>
            <a:ext cx="75895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600" b="1">
                <a:solidFill>
                  <a:srgbClr val="1F3A68"/>
                </a:solidFill>
                <a:latin typeface="Malgun Gothic"/>
              </a:rPr>
              <a:t>Q_α  =  Σᵢ Rᵢ  +  α · 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240280"/>
            <a:ext cx="75895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Malgun Gothic"/>
              </a:rPr>
              <a:t>R: random spin-glass blocks  |  P: planted posiform  |  α: hardness knob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E57300"/>
                </a:solidFill>
                <a:latin typeface="Malgun Gothic"/>
              </a:rPr>
              <a:t>기존 (Pelofske, Hahn, Djidjev 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5486400" cy="3108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  <a:latin typeface="Malgun Gothic"/>
              </a:rPr>
              <a:t>• hardware-graph-native (Pegasus/Zephyr 등)</a:t>
            </a:r>
          </a:p>
          <a:p>
            <a:pPr algn="l"/>
            <a:r>
              <a:rPr sz="1400" b="0">
                <a:solidFill>
                  <a:srgbClr val="101010"/>
                </a:solidFill>
                <a:latin typeface="Malgun Gothic"/>
              </a:rPr>
              <a:t>• 유일한 ground state 보장 (수학적)</a:t>
            </a:r>
          </a:p>
          <a:p>
            <a:pPr algn="l"/>
            <a:r>
              <a:rPr sz="1400" b="0">
                <a:solidFill>
                  <a:srgbClr val="101010"/>
                </a:solidFill>
                <a:latin typeface="Malgun Gothic"/>
              </a:rPr>
              <a:t>• α 조절로 plain posiform → hardened</a:t>
            </a:r>
          </a:p>
          <a:p>
            <a:pPr algn="l"/>
            <a:r>
              <a:rPr sz="1400" b="0">
                <a:solidFill>
                  <a:srgbClr val="101010"/>
                </a:solidFill>
                <a:latin typeface="Malgun Gothic"/>
              </a:rPr>
              <a:t>• 측정 지표: </a:t>
            </a:r>
            <a:r>
              <a:rPr sz="1400" b="1">
                <a:solidFill>
                  <a:srgbClr val="C0392B"/>
                </a:solidFill>
                <a:latin typeface="Malgun Gothic"/>
              </a:rPr>
              <a:t>이진 성공률만</a:t>
            </a:r>
          </a:p>
          <a:p>
            <a:pPr algn="l"/>
            <a:r>
              <a:rPr sz="1300" b="0">
                <a:solidFill>
                  <a:srgbClr val="C0392B"/>
                </a:solidFill>
                <a:latin typeface="Malgun Gothic"/>
              </a:rPr>
              <a:t>  → α의 6 decade 동안 0%로 saturate</a:t>
            </a:r>
          </a:p>
          <a:p>
            <a:pPr algn="l"/>
            <a:r>
              <a:rPr sz="1300" b="0">
                <a:solidFill>
                  <a:srgbClr val="C0392B"/>
                </a:solidFill>
                <a:latin typeface="Malgun Gothic"/>
              </a:rPr>
              <a:t>  → underlying landscape mechanism 가려짐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26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08080"/>
                </a:solidFill>
                <a:latin typeface="Malgun Gothic"/>
              </a:rPr>
              <a:t>본 연구 확장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291840"/>
            <a:ext cx="5486400" cy="3108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  <a:latin typeface="Malgun Gothic"/>
              </a:rPr>
              <a:t>• 표본별 </a:t>
            </a:r>
            <a:r>
              <a:rPr sz="1400" b="1">
                <a:solidFill>
                  <a:srgbClr val="101010"/>
                </a:solidFill>
                <a:latin typeface="Malgun Gothic"/>
              </a:rPr>
              <a:t>두 지표 동시 로깅</a:t>
            </a:r>
          </a:p>
          <a:p>
            <a:pPr algn="l"/>
            <a:r>
              <a:rPr sz="1400" b="0">
                <a:solidFill>
                  <a:srgbClr val="008080"/>
                </a:solidFill>
                <a:latin typeface="Malgun Gothic"/>
              </a:rPr>
              <a:t>  – HD = bitwise distance to target</a:t>
            </a:r>
          </a:p>
          <a:p>
            <a:pPr algn="l"/>
            <a:r>
              <a:rPr sz="1400" b="0">
                <a:solidFill>
                  <a:srgbClr val="008080"/>
                </a:solidFill>
                <a:latin typeface="Malgun Gothic"/>
              </a:rPr>
              <a:t>  – ΔE = energy gap to target</a:t>
            </a:r>
          </a:p>
          <a:p>
            <a:pPr algn="l"/>
            <a:r>
              <a:rPr sz="1400" b="0">
                <a:solidFill>
                  <a:srgbClr val="101010"/>
                </a:solidFill>
                <a:latin typeface="Malgun Gothic"/>
              </a:rPr>
              <a:t>• α 그리드: 기존 10점 + </a:t>
            </a:r>
            <a:r>
              <a:rPr sz="1400" b="1">
                <a:solidFill>
                  <a:srgbClr val="278F4D"/>
                </a:solidFill>
                <a:latin typeface="Malgun Gothic"/>
              </a:rPr>
              <a:t>신규 3점 (cliff)</a:t>
            </a:r>
          </a:p>
          <a:p>
            <a:pPr algn="l"/>
            <a:r>
              <a:rPr sz="1400" b="0">
                <a:solidFill>
                  <a:srgbClr val="101010"/>
                </a:solidFill>
                <a:latin typeface="Malgun Gothic"/>
              </a:rPr>
              <a:t>• 두 지표의 </a:t>
            </a:r>
            <a:r>
              <a:rPr sz="1400" b="1">
                <a:solidFill>
                  <a:srgbClr val="008080"/>
                </a:solidFill>
                <a:latin typeface="Malgun Gothic"/>
              </a:rPr>
              <a:t>환원 불가 상보 정보</a:t>
            </a:r>
          </a:p>
          <a:p>
            <a:pPr algn="l"/>
            <a:r>
              <a:rPr sz="1300" b="0">
                <a:solidFill>
                  <a:srgbClr val="008080"/>
                </a:solidFill>
                <a:latin typeface="Malgun Gothic"/>
              </a:rPr>
              <a:t>  → 4가지 영역 발견 (단일 지표로 불가)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Motivation — 왜 두 개의 지표인가?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HD + ΔE Dual-Metric α-Difficulty Spectroscopy — Yideun Kim, KNU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2801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algun Gothic"/>
              </a:rPr>
              <a:t>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3385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algun Gothic"/>
              </a:rPr>
              <a:t>Success rate (0%로 포화)도, HD 단독도 부족하다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657600" cy="45720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Success rate 단독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3657600" cy="411480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3383280" cy="3931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Binary 0 / 1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α=10⁻⁹ ~ 10⁻³ 모두 0%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6 decade 동안 완전 동일하게 보임</a:t>
            </a:r>
          </a:p>
          <a:p>
            <a:pPr algn="l"/>
            <a:r>
              <a:rPr sz="800" b="0">
                <a:solidFill>
                  <a:srgbClr val="101010"/>
                </a:solidFill>
                <a:latin typeface="Malgun Gothic"/>
              </a:rPr>
              <a:t/>
            </a:r>
          </a:p>
          <a:p>
            <a:pPr algn="l"/>
            <a:r>
              <a:rPr sz="1400" b="1">
                <a:solidFill>
                  <a:srgbClr val="C0392B"/>
                </a:solidFill>
                <a:latin typeface="Malgun Gothic"/>
              </a:rPr>
              <a:t>⇒ 왜 못 푸는지 모름</a:t>
            </a:r>
          </a:p>
          <a:p>
            <a:pPr algn="l"/>
            <a:r>
              <a:rPr sz="1400" b="1">
                <a:solidFill>
                  <a:srgbClr val="C0392B"/>
                </a:solidFill>
                <a:latin typeface="Malgun Gothic"/>
              </a:rPr>
              <a:t>⇒ landscape 정보 가려짐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3657600" cy="457200"/>
          </a:xfrm>
          <a:prstGeom prst="rect">
            <a:avLst/>
          </a:prstGeom>
          <a:solidFill>
            <a:srgbClr val="E57300"/>
          </a:solidFill>
          <a:ln>
            <a:solidFill>
              <a:srgbClr val="E57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6916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HD 단독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103120"/>
            <a:ext cx="3657600" cy="411480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194560"/>
            <a:ext cx="3383280" cy="3931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Bitwise 거리 측정 → 좋음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α=0에서 HD=459 (max)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Valley plateau ≈ 70 ≈ 1.2%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단조 감소 (α↑ → HD↓)</a:t>
            </a:r>
          </a:p>
          <a:p>
            <a:pPr algn="l"/>
            <a:r>
              <a:rPr sz="800" b="0">
                <a:solidFill>
                  <a:srgbClr val="101010"/>
                </a:solidFill>
                <a:latin typeface="Malgun Gothic"/>
              </a:rPr>
              <a:t/>
            </a:r>
          </a:p>
          <a:p>
            <a:pPr algn="l"/>
            <a:r>
              <a:rPr sz="1400" b="1">
                <a:solidFill>
                  <a:srgbClr val="E57300"/>
                </a:solidFill>
                <a:latin typeface="Malgun Gothic"/>
              </a:rPr>
              <a:t>⇒ α=10⁻²의 trap 심화 못 봄</a:t>
            </a:r>
          </a:p>
          <a:p>
            <a:pPr algn="l"/>
            <a:r>
              <a:rPr sz="1400" b="1">
                <a:solidFill>
                  <a:srgbClr val="E57300"/>
                </a:solidFill>
                <a:latin typeface="Malgun Gothic"/>
              </a:rPr>
              <a:t>⇒ α=0의 R-degeneracy 못 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3657600" cy="457200"/>
          </a:xfrm>
          <a:prstGeom prst="rect">
            <a:avLst/>
          </a:prstGeom>
          <a:solidFill>
            <a:srgbClr val="278F4D"/>
          </a:solidFill>
          <a:ln>
            <a:solidFill>
              <a:srgbClr val="278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6916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HD + ΔE 동시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103120"/>
            <a:ext cx="3657600" cy="411480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194560"/>
            <a:ext cx="3383280" cy="3931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표본별 (HD, ΔE) 동시 기록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4가지 영역 분리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  – α=0: opposite signal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  – Valley: 둘 다 평탄</a:t>
            </a:r>
          </a:p>
          <a:p>
            <a:pPr algn="l"/>
            <a:r>
              <a:rPr sz="1300" b="1">
                <a:solidFill>
                  <a:srgbClr val="C0392B"/>
                </a:solidFill>
                <a:latin typeface="Malgun Gothic"/>
              </a:rPr>
              <a:t>  – α=0.01: ΔE peak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  – cliff: escape dynamics</a:t>
            </a:r>
          </a:p>
          <a:p>
            <a:pPr algn="l"/>
            <a:r>
              <a:rPr sz="800" b="0">
                <a:solidFill>
                  <a:srgbClr val="101010"/>
                </a:solidFill>
                <a:latin typeface="Malgun Gothic"/>
              </a:rPr>
              <a:t/>
            </a:r>
          </a:p>
          <a:p>
            <a:pPr algn="l"/>
            <a:r>
              <a:rPr sz="1400" b="1">
                <a:solidFill>
                  <a:srgbClr val="278F4D"/>
                </a:solidFill>
                <a:latin typeface="Malgun Gothic"/>
              </a:rPr>
              <a:t>⇒ 환원 불가 상보 정보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Methodology — 실험 Setup + 10α 그리드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HD + ΔE Dual-Metric α-Difficulty Spectroscopy — Yideun Kim, KNU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2801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algun Gothic"/>
              </a:rPr>
              <a:t>4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algun Gothic"/>
              </a:rPr>
              <a:t>실험 설정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943600" cy="3200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  <a:latin typeface="Malgun Gothic"/>
              </a:rPr>
              <a:t>• 토폴로지: </a:t>
            </a:r>
            <a:r>
              <a:rPr sz="1400" b="1">
                <a:solidFill>
                  <a:srgbClr val="1F3A68"/>
                </a:solidFill>
                <a:latin typeface="Malgun Gothic"/>
              </a:rPr>
              <a:t>Pegasus P16 (n=5612 큐비트)</a:t>
            </a:r>
          </a:p>
          <a:p>
            <a:pPr algn="l"/>
            <a:r>
              <a:rPr sz="1400" b="0">
                <a:solidFill>
                  <a:srgbClr val="101010"/>
                </a:solidFill>
                <a:latin typeface="Malgun Gothic"/>
              </a:rPr>
              <a:t>• 계수: lin2 ∈ {−1, +1}</a:t>
            </a:r>
          </a:p>
          <a:p>
            <a:pPr algn="l"/>
            <a:r>
              <a:rPr sz="1400" b="0">
                <a:solidFill>
                  <a:srgbClr val="101010"/>
                </a:solidFill>
                <a:latin typeface="Malgun Gothic"/>
              </a:rPr>
              <a:t>• Sub-graph: KL bisection, max_size ≤ 16</a:t>
            </a:r>
          </a:p>
          <a:p>
            <a:pPr algn="l"/>
            <a:r>
              <a:rPr sz="1400" b="0">
                <a:solidFill>
                  <a:srgbClr val="101010"/>
                </a:solidFill>
                <a:latin typeface="Malgun Gothic"/>
              </a:rPr>
              <a:t>• 인스턴스: </a:t>
            </a:r>
            <a:r>
              <a:rPr sz="1400" b="1">
                <a:solidFill>
                  <a:srgbClr val="1F3A68"/>
                </a:solidFill>
                <a:latin typeface="Malgun Gothic"/>
              </a:rPr>
              <a:t>500개 (독립 seed)</a:t>
            </a:r>
          </a:p>
          <a:p>
            <a:pPr algn="l"/>
            <a:r>
              <a:rPr sz="1400" b="0">
                <a:solidFill>
                  <a:srgbClr val="101010"/>
                </a:solidFill>
                <a:latin typeface="Malgun Gothic"/>
              </a:rPr>
              <a:t>• Solver: </a:t>
            </a:r>
            <a:r>
              <a:rPr sz="1400" b="1">
                <a:solidFill>
                  <a:srgbClr val="1F3A68"/>
                </a:solidFill>
                <a:latin typeface="Malgun Gothic"/>
              </a:rPr>
              <a:t>neal SA, 1000 sweep, 100 reads</a:t>
            </a:r>
          </a:p>
          <a:p>
            <a:pPr algn="l"/>
            <a:r>
              <a:rPr sz="1400" b="0">
                <a:solidFill>
                  <a:srgbClr val="101010"/>
                </a:solidFill>
                <a:latin typeface="Malgun Gothic"/>
              </a:rPr>
              <a:t>• 총 표본: </a:t>
            </a:r>
            <a:r>
              <a:rPr sz="1400" b="1">
                <a:solidFill>
                  <a:srgbClr val="1F3A68"/>
                </a:solidFill>
                <a:latin typeface="Malgun Gothic"/>
              </a:rPr>
              <a:t>500 × 10 × 100 = 5.0×10⁵</a:t>
            </a:r>
          </a:p>
          <a:p>
            <a:pPr algn="l"/>
            <a:r>
              <a:rPr sz="1400" b="0">
                <a:solidFill>
                  <a:srgbClr val="101010"/>
                </a:solidFill>
                <a:latin typeface="Malgun Gothic"/>
              </a:rPr>
              <a:t>• 실행: 500-inst × 10α SA = 14분 (26-worker fork-pool)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91440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algun Gothic"/>
              </a:rPr>
              <a:t>α 그리드 (10점, lin2)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371600"/>
            <a:ext cx="5120640" cy="36576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20"/>
            <a:ext cx="49377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α 값                                          구간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783080"/>
            <a:ext cx="4937760" cy="2743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01010"/>
                </a:solidFill>
                <a:latin typeface="Malgun Gothic"/>
              </a:rPr>
              <a:t>0</a:t>
            </a:r>
            <a:r>
              <a:rPr sz="1300" b="0">
                <a:solidFill>
                  <a:srgbClr val="101010"/>
                </a:solidFill>
                <a:latin typeface="Malgun Gothic"/>
              </a:rPr>
              <a:t>                                    </a:t>
            </a:r>
            <a:r>
              <a:rPr sz="1300" b="0">
                <a:solidFill>
                  <a:srgbClr val="555555"/>
                </a:solidFill>
                <a:latin typeface="Malgun Gothic"/>
              </a:rPr>
              <a:t>R 단독</a:t>
            </a:r>
          </a:p>
          <a:p>
            <a:pPr algn="l"/>
            <a:r>
              <a:rPr sz="1300" b="1">
                <a:solidFill>
                  <a:srgbClr val="101010"/>
                </a:solidFill>
                <a:latin typeface="Malgun Gothic"/>
              </a:rPr>
              <a:t>10⁻⁹, 10⁻⁵</a:t>
            </a:r>
            <a:r>
              <a:rPr sz="1300" b="0">
                <a:solidFill>
                  <a:srgbClr val="101010"/>
                </a:solidFill>
                <a:latin typeface="Malgun Gothic"/>
              </a:rPr>
              <a:t>       </a:t>
            </a:r>
            <a:r>
              <a:rPr sz="1300" b="0">
                <a:solidFill>
                  <a:srgbClr val="555555"/>
                </a:solidFill>
                <a:latin typeface="Malgun Gothic"/>
              </a:rPr>
              <a:t>Valley plateau</a:t>
            </a:r>
          </a:p>
          <a:p>
            <a:pPr algn="l"/>
            <a:r>
              <a:rPr sz="1300" b="1">
                <a:solidFill>
                  <a:srgbClr val="101010"/>
                </a:solidFill>
                <a:latin typeface="Malgun Gothic"/>
              </a:rPr>
              <a:t>10⁻⁴, 10⁻³</a:t>
            </a:r>
            <a:r>
              <a:rPr sz="1300" b="0">
                <a:solidFill>
                  <a:srgbClr val="101010"/>
                </a:solidFill>
                <a:latin typeface="Malgun Gothic"/>
              </a:rPr>
              <a:t>                              </a:t>
            </a:r>
            <a:r>
              <a:rPr sz="1300" b="0">
                <a:solidFill>
                  <a:srgbClr val="555555"/>
                </a:solidFill>
                <a:latin typeface="Malgun Gothic"/>
              </a:rPr>
              <a:t>pre-cliff rise</a:t>
            </a:r>
          </a:p>
          <a:p>
            <a:pPr algn="l"/>
            <a:r>
              <a:rPr sz="1300" b="1">
                <a:solidFill>
                  <a:srgbClr val="C0392B"/>
                </a:solidFill>
                <a:latin typeface="Malgun Gothic"/>
              </a:rPr>
              <a:t>10⁻²</a:t>
            </a:r>
            <a:r>
              <a:rPr sz="1300" b="0">
                <a:solidFill>
                  <a:srgbClr val="101010"/>
                </a:solidFill>
                <a:latin typeface="Malgun Gothic"/>
              </a:rPr>
              <a:t>                                  </a:t>
            </a:r>
            <a:r>
              <a:rPr sz="1300" b="1">
                <a:solidFill>
                  <a:srgbClr val="C0392B"/>
                </a:solidFill>
                <a:latin typeface="Malgun Gothic"/>
              </a:rPr>
              <a:t>ΔE peak (전이점)</a:t>
            </a:r>
          </a:p>
          <a:p>
            <a:pPr algn="l"/>
            <a:r>
              <a:rPr sz="1300" b="1">
                <a:solidFill>
                  <a:srgbClr val="278F4D"/>
                </a:solidFill>
                <a:latin typeface="Malgun Gothic"/>
              </a:rPr>
              <a:t>2×10⁻², 4×10⁻², 7×10⁻²</a:t>
            </a:r>
            <a:r>
              <a:rPr sz="1300" b="0">
                <a:solidFill>
                  <a:srgbClr val="101010"/>
                </a:solidFill>
                <a:latin typeface="Malgun Gothic"/>
              </a:rPr>
              <a:t>       </a:t>
            </a:r>
            <a:r>
              <a:rPr sz="1300" b="1">
                <a:solidFill>
                  <a:srgbClr val="278F4D"/>
                </a:solidFill>
                <a:latin typeface="Malgun Gothic"/>
              </a:rPr>
              <a:t>신규 ← cliff 해상</a:t>
            </a:r>
          </a:p>
          <a:p>
            <a:pPr algn="l"/>
            <a:r>
              <a:rPr sz="1300" b="1">
                <a:solidFill>
                  <a:srgbClr val="101010"/>
                </a:solidFill>
                <a:latin typeface="Malgun Gothic"/>
              </a:rPr>
              <a:t>10⁻¹</a:t>
            </a:r>
            <a:r>
              <a:rPr sz="1300" b="0">
                <a:solidFill>
                  <a:srgbClr val="101010"/>
                </a:solidFill>
                <a:latin typeface="Malgun Gothic"/>
              </a:rPr>
              <a:t>                                  </a:t>
            </a:r>
            <a:r>
              <a:rPr sz="1300" b="0">
                <a:solidFill>
                  <a:srgbClr val="555555"/>
                </a:solidFill>
                <a:latin typeface="Malgun Gothic"/>
              </a:rPr>
              <a:t>planting 지배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11430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Malgun Gothic"/>
              </a:rPr>
              <a:t>표본별 long-format CSV (samples.csv)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937760"/>
            <a:ext cx="11338560" cy="137160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10972800" cy="1188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  <a:latin typeface="Consolas"/>
              </a:rPr>
              <a:t>alpha, instance_id, read_idx, hd, energy, delta_energy, is_target, is_R_gs, eng_ok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Consolas"/>
              </a:rPr>
              <a:t>                                ↑              ↑                       ↑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Consolas"/>
              </a:rPr>
              <a:t>                                HD          ΔE = E − E_target          |ΔE|&lt;10⁻⁷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HD 계산법 — Hamming Distance to Planted Target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HD + ΔE Dual-Metric α-Difficulty Spectroscopy — Yideun Kim, KNU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2801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algun Gothic"/>
              </a:rPr>
              <a:t>5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338560" cy="128016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1F3A68"/>
                </a:solidFill>
                <a:latin typeface="Malgun Gothic"/>
              </a:rPr>
              <a:t>정의 (Hamming 1950)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33856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200" b="1">
                <a:solidFill>
                  <a:srgbClr val="1F3A68"/>
                </a:solidFill>
                <a:latin typeface="Malgun Gothic"/>
              </a:rPr>
              <a:t>HD(target, sample) = |{ i ∈ {1, …, n} : sample_i ≠ target_i }|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113385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Malgun Gothic"/>
              </a:rPr>
              <a:t>→ 두 비트열 XOR의 무게 (1의 개수). 표준 metric (coding theory).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Malgun Gothic"/>
              </a:rPr>
              <a:t>구현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5486400" cy="155448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530352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101010"/>
                </a:solidFill>
                <a:latin typeface="Consolas"/>
              </a:rPr>
              <a:t>sorted_nodes = sorted(target.keys())</a:t>
            </a:r>
          </a:p>
          <a:p>
            <a:pPr algn="l"/>
            <a:r>
              <a:rPr sz="1100" b="0">
                <a:solidFill>
                  <a:srgbClr val="101010"/>
                </a:solidFill>
                <a:latin typeface="Consolas"/>
              </a:rPr>
              <a:t>target_str = ''.join(str(target[v])</a:t>
            </a:r>
          </a:p>
          <a:p>
            <a:pPr algn="l"/>
            <a:r>
              <a:rPr sz="1100" b="0">
                <a:solidFill>
                  <a:srgbClr val="101010"/>
                </a:solidFill>
                <a:latin typeface="Consolas"/>
              </a:rPr>
              <a:t>                    for v in sorted_nodes)</a:t>
            </a:r>
          </a:p>
          <a:p>
            <a:pPr algn="l"/>
            <a:r>
              <a:rPr sz="1100" b="0">
                <a:solidFill>
                  <a:srgbClr val="101010"/>
                </a:solidFill>
                <a:latin typeface="Consolas"/>
              </a:rPr>
              <a:t>found_str  = ''.join(str(sample[v])</a:t>
            </a:r>
          </a:p>
          <a:p>
            <a:pPr algn="l"/>
            <a:r>
              <a:rPr sz="1100" b="0">
                <a:solidFill>
                  <a:srgbClr val="101010"/>
                </a:solidFill>
                <a:latin typeface="Consolas"/>
              </a:rPr>
              <a:t>                    for v in sorted_nodes)</a:t>
            </a:r>
          </a:p>
          <a:p>
            <a:pPr algn="l"/>
            <a:r>
              <a:rPr sz="1100" b="0">
                <a:solidFill>
                  <a:srgbClr val="101010"/>
                </a:solidFill>
                <a:latin typeface="Consolas"/>
              </a:rPr>
              <a:t>hd = sum(1 for a,b in zip(target_str, found_str)</a:t>
            </a:r>
          </a:p>
          <a:p>
            <a:pPr algn="l"/>
            <a:r>
              <a:rPr sz="1100" b="0">
                <a:solidFill>
                  <a:srgbClr val="101010"/>
                </a:solidFill>
                <a:latin typeface="Consolas"/>
              </a:rPr>
              <a:t>        if a != b)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468880"/>
            <a:ext cx="5669280" cy="36576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514600"/>
            <a:ext cx="5669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⚠ α = 0 의 특수성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834640"/>
            <a:ext cx="5669280" cy="228600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880360"/>
            <a:ext cx="5486400" cy="2194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α=0이면 </a:t>
            </a:r>
            <a:r>
              <a:rPr sz="1300" b="1">
                <a:solidFill>
                  <a:srgbClr val="C0392B"/>
                </a:solidFill>
                <a:latin typeface="Malgun Gothic"/>
              </a:rPr>
              <a:t>Q = R 단독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R은 일반적으로 </a:t>
            </a:r>
            <a:r>
              <a:rPr sz="1300" b="1">
                <a:solidFill>
                  <a:srgbClr val="C0392B"/>
                </a:solidFill>
                <a:latin typeface="Malgun Gothic"/>
              </a:rPr>
              <a:t>다중 degenerate GS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Malgun Gothic"/>
              </a:rPr>
              <a:t>  – brute force가 그 중 하나를 'target'으로 임의 선택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HD는 </a:t>
            </a:r>
            <a:r>
              <a:rPr sz="1300" b="1">
                <a:solidFill>
                  <a:srgbClr val="C0392B"/>
                </a:solidFill>
                <a:latin typeface="Malgun Gothic"/>
              </a:rPr>
              <a:t>임의 선택된 target</a:t>
            </a:r>
            <a:r>
              <a:rPr sz="1300" b="0">
                <a:solidFill>
                  <a:srgbClr val="101010"/>
                </a:solidFill>
                <a:latin typeface="Malgun Gothic"/>
              </a:rPr>
              <a:t>과의 거리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Malgun Gothic"/>
              </a:rPr>
              <a:t>  – SA가 다른 R-GS 찾으면 HD가 클 수 있음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Malgun Gothic"/>
              </a:rPr>
              <a:t>  – 하지만 그 sample의 ΔE = 0 (에너지는 동등)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결과: α=0에서 </a:t>
            </a:r>
            <a:r>
              <a:rPr sz="1300" b="1">
                <a:solidFill>
                  <a:srgbClr val="1F3A68"/>
                </a:solidFill>
                <a:latin typeface="Malgun Gothic"/>
              </a:rPr>
              <a:t>HD ≈ 459 (max), ΔE ≈ 0.59 (min)</a:t>
            </a:r>
          </a:p>
          <a:p>
            <a:pPr algn="l"/>
            <a:r>
              <a:rPr sz="1200" b="1">
                <a:solidFill>
                  <a:srgbClr val="101010"/>
                </a:solidFill>
                <a:latin typeface="Malgun Gothic"/>
              </a:rPr>
              <a:t>  → </a:t>
            </a:r>
            <a:r>
              <a:rPr sz="1200" b="1">
                <a:solidFill>
                  <a:srgbClr val="C0392B"/>
                </a:solidFill>
                <a:latin typeface="Malgun Gothic"/>
              </a:rPr>
              <a:t>반대 방향 신호 = degeneracy 지문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26280"/>
            <a:ext cx="113385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57300"/>
                </a:solidFill>
                <a:latin typeface="Malgun Gothic"/>
              </a:rPr>
              <a:t>구현 디테일: free variable 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92040"/>
            <a:ext cx="1133856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lin20 계수에 0 있어 일부 노드 모든 항이 0 → neal BQM에서 제거됨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그런 노드는 </a:t>
            </a:r>
            <a:r>
              <a:rPr sz="1300" b="1">
                <a:solidFill>
                  <a:srgbClr val="E57300"/>
                </a:solidFill>
                <a:latin typeface="Malgun Gothic"/>
              </a:rPr>
              <a:t>자유변수 (에너지에 무관)</a:t>
            </a:r>
            <a:r>
              <a:rPr sz="1300" b="0">
                <a:solidFill>
                  <a:srgbClr val="101010"/>
                </a:solidFill>
                <a:latin typeface="Malgun Gothic"/>
              </a:rPr>
              <a:t> → </a:t>
            </a:r>
            <a:r>
              <a:rPr sz="1300" b="1">
                <a:solidFill>
                  <a:srgbClr val="1F3A68"/>
                </a:solidFill>
                <a:latin typeface="Malgun Gothic"/>
              </a:rPr>
              <a:t>target bit으로 보강</a:t>
            </a:r>
            <a:r>
              <a:rPr sz="1300" b="0">
                <a:solidFill>
                  <a:srgbClr val="101010"/>
                </a:solidFill>
                <a:latin typeface="Malgun Gothic"/>
              </a:rPr>
              <a:t> (HD 기여 = 0)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lin2는 0 없음 → 모든 노드 존재. 본 실험은 비활성 경로지만 정합성 보존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ΔE 계산법 — Energy Gap to Target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HD + ΔE Dual-Metric α-Difficulty Spectroscopy — Yideun Kim, KNU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2801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algun Gothic"/>
              </a:rPr>
              <a:t>6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338560" cy="128016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1F3A68"/>
                </a:solidFill>
                <a:latin typeface="Malgun Gothic"/>
              </a:rPr>
              <a:t>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33856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400" b="1">
                <a:solidFill>
                  <a:srgbClr val="1F3A68"/>
                </a:solidFill>
                <a:latin typeface="Malgun Gothic"/>
              </a:rPr>
              <a:t>ΔE  =  E_sample − E_target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113385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Malgun Gothic"/>
              </a:rPr>
              <a:t>E_target = t_energy_R + α · t_energy_P  (인스턴스 생성 시 미리 계산)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Malgun Gothic"/>
              </a:rPr>
              <a:t>구현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5486400" cy="155448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530352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101010"/>
                </a:solidFill>
                <a:latin typeface="Consolas"/>
              </a:rPr>
              <a:t>for sample, energy in zip(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Consolas"/>
              </a:rPr>
              <a:t>       resp.record.sample,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Consolas"/>
              </a:rPr>
              <a:t>       resp.record.energy):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Consolas"/>
              </a:rPr>
              <a:t>    delta = float(energy) \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Consolas"/>
              </a:rPr>
              <a:t>          - float(target_energy)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Consolas"/>
              </a:rPr>
              <a:t>    eng_ok = abs(delta) &lt; 1e-7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468880"/>
            <a:ext cx="5669280" cy="365760"/>
          </a:xfrm>
          <a:prstGeom prst="rect">
            <a:avLst/>
          </a:prstGeom>
          <a:solidFill>
            <a:srgbClr val="008080"/>
          </a:solidFill>
          <a:ln>
            <a:solidFill>
              <a:srgbClr val="0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514600"/>
            <a:ext cx="5669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α 영역별 ΔE 의미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834640"/>
            <a:ext cx="5669280" cy="228600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880360"/>
            <a:ext cx="5486400" cy="2194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Malgun Gothic"/>
              </a:rPr>
              <a:t>α = 0 (R 단독):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Malgun Gothic"/>
              </a:rPr>
              <a:t>  • target은 </a:t>
            </a:r>
            <a:r>
              <a:rPr sz="1200" b="1">
                <a:solidFill>
                  <a:srgbClr val="C0392B"/>
                </a:solidFill>
                <a:latin typeface="Malgun Gothic"/>
              </a:rPr>
              <a:t>다중 GS 중 임의 선택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Malgun Gothic"/>
              </a:rPr>
              <a:t>  • SA가 다른 R-GS 찾으면 ΔE = 0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Malgun Gothic"/>
              </a:rPr>
              <a:t>  • R landscape엔 같은 위치, 비트만 다름</a:t>
            </a:r>
          </a:p>
          <a:p>
            <a:pPr algn="l"/>
            <a:r>
              <a:rPr sz="1300" b="1">
                <a:solidFill>
                  <a:srgbClr val="1F3A68"/>
                </a:solidFill>
                <a:latin typeface="Malgun Gothic"/>
              </a:rPr>
              <a:t>α &gt; 0 (R + αP):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Malgun Gothic"/>
              </a:rPr>
              <a:t>  • posiform이 target에만 페널티 0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Malgun Gothic"/>
              </a:rPr>
              <a:t>  • </a:t>
            </a:r>
            <a:r>
              <a:rPr sz="1200" b="1">
                <a:solidFill>
                  <a:srgbClr val="1F3A68"/>
                </a:solidFill>
                <a:latin typeface="Malgun Gothic"/>
              </a:rPr>
              <a:t>target이 유일 GS (수학적)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Malgun Gothic"/>
              </a:rPr>
              <a:t>  • </a:t>
            </a:r>
            <a:r>
              <a:rPr sz="1200" b="1">
                <a:solidFill>
                  <a:srgbClr val="1F3A68"/>
                </a:solidFill>
                <a:latin typeface="Malgun Gothic"/>
              </a:rPr>
              <a:t>ΔE ≥ 0</a:t>
            </a:r>
            <a:r>
              <a:rPr sz="1200" b="0">
                <a:solidFill>
                  <a:srgbClr val="101010"/>
                </a:solidFill>
                <a:latin typeface="Malgun Gothic"/>
              </a:rPr>
              <a:t> 항상 성립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Malgun Gothic"/>
              </a:rPr>
              <a:t>  • ΔE 크기 = </a:t>
            </a:r>
            <a:r>
              <a:rPr sz="1200" b="1">
                <a:solidFill>
                  <a:srgbClr val="E57300"/>
                </a:solidFill>
                <a:latin typeface="Malgun Gothic"/>
              </a:rPr>
              <a:t>trap의 에너지 깊이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26280"/>
            <a:ext cx="113385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57300"/>
                </a:solidFill>
                <a:latin typeface="Malgun Gothic"/>
              </a:rPr>
              <a:t>구현 디테일: 부동소수점 임계값 1e-7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92040"/>
            <a:ext cx="1133856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Q에 </a:t>
            </a:r>
            <a:r>
              <a:rPr sz="1300" b="1">
                <a:solidFill>
                  <a:srgbClr val="E57300"/>
                </a:solidFill>
                <a:latin typeface="Malgun Gothic"/>
              </a:rPr>
              <a:t>수만 항</a:t>
            </a:r>
            <a:r>
              <a:rPr sz="1300" b="0">
                <a:solidFill>
                  <a:srgbClr val="101010"/>
                </a:solidFill>
                <a:latin typeface="Malgun Gothic"/>
              </a:rPr>
              <a:t>이 합산됨 → 부동소수점 누적 오차 자연 발생 ~1e-9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eng_ok flag: </a:t>
            </a:r>
            <a:r>
              <a:rPr sz="1300" b="1">
                <a:solidFill>
                  <a:srgbClr val="1F3A68"/>
                </a:solidFill>
                <a:latin typeface="Malgun Gothic"/>
              </a:rPr>
              <a:t>|ΔE| &lt; 1e-7</a:t>
            </a:r>
            <a:r>
              <a:rPr sz="1300" b="0">
                <a:solidFill>
                  <a:srgbClr val="101010"/>
                </a:solidFill>
                <a:latin typeface="Malgun Gothic"/>
              </a:rPr>
              <a:t>로 "에너지 일치" 판정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1e-10 같이 너무 빡빡한 기준은 </a:t>
            </a:r>
            <a:r>
              <a:rPr sz="1300" b="1">
                <a:solidFill>
                  <a:srgbClr val="C0392B"/>
                </a:solidFill>
                <a:latin typeface="Malgun Gothic"/>
              </a:rPr>
              <a:t>false negative 양산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Result A — Trajectory: HD vs ΔE (핵심 발견)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HD + ΔE Dual-Metric α-Difficulty Spectroscopy — Yideun Kim, KNU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2801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algun Gothic"/>
              </a:rPr>
              <a:t>7 / 13</a:t>
            </a:r>
          </a:p>
        </p:txBody>
      </p:sp>
      <p:pic>
        <p:nvPicPr>
          <p:cNvPr id="7" name="Picture 6" descr="fig_tr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3840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4937760"/>
            <a:ext cx="5486400" cy="137160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983480"/>
            <a:ext cx="53949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Malgun Gothic"/>
              </a:rPr>
              <a:t>(a) HD: 단조 감소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49240"/>
            <a:ext cx="530352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459 (α=0) → </a:t>
            </a:r>
            <a:r>
              <a:rPr sz="1300" b="1">
                <a:solidFill>
                  <a:srgbClr val="E57300"/>
                </a:solidFill>
                <a:latin typeface="Malgun Gothic"/>
              </a:rPr>
              <a:t>69 plateau</a:t>
            </a:r>
            <a:r>
              <a:rPr sz="1300" b="0">
                <a:solidFill>
                  <a:srgbClr val="101010"/>
                </a:solidFill>
                <a:latin typeface="Malgun Gothic"/>
              </a:rPr>
              <a:t> → 0 (α=0.1)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Malgun Gothic"/>
              </a:rPr>
              <a:t>• Valley에서 천천히 감소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Malgun Gothic"/>
              </a:rPr>
              <a:t>• α=0.0009부터 더 빠르고 cliff에서 급락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4937760"/>
            <a:ext cx="5486400" cy="137160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983480"/>
            <a:ext cx="53949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Malgun Gothic"/>
              </a:rPr>
              <a:t>(b) ΔE: 비단조 — Pre-cliff peak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349240"/>
            <a:ext cx="530352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0.57 (α=0) → 1.10 plateau → </a:t>
            </a:r>
            <a:r>
              <a:rPr sz="1300" b="1">
                <a:solidFill>
                  <a:srgbClr val="C0392B"/>
                </a:solidFill>
                <a:latin typeface="Malgun Gothic"/>
              </a:rPr>
              <a:t>peak 2.98 @ α=10⁻²</a:t>
            </a:r>
            <a:r>
              <a:rPr sz="1300" b="0">
                <a:solidFill>
                  <a:srgbClr val="101010"/>
                </a:solidFill>
                <a:latin typeface="Malgun Gothic"/>
              </a:rPr>
              <a:t> → 0.0009</a:t>
            </a:r>
          </a:p>
          <a:p>
            <a:pPr algn="l"/>
            <a:r>
              <a:rPr sz="1200" b="1">
                <a:solidFill>
                  <a:srgbClr val="C0392B"/>
                </a:solidFill>
                <a:latin typeface="Malgun Gothic"/>
              </a:rPr>
              <a:t>• α=10⁻²에서 </a:t>
            </a:r>
            <a:r>
              <a:rPr sz="1200" b="1">
                <a:solidFill>
                  <a:srgbClr val="C0392B"/>
                </a:solidFill>
                <a:latin typeface="Malgun Gothic"/>
              </a:rPr>
              <a:t>두 지표 반대 방향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Malgun Gothic"/>
              </a:rPr>
              <a:t>• HD↓ (target에 가까이) but ΔE↑ (trap 더 깊이)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Result B — α=0: Opposite Signal (Degeneracy 지문)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HD + ΔE Dual-Metric α-Difficulty Spectroscopy — Yideun Kim, KNU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2801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algun Gothic"/>
              </a:rPr>
              <a:t>8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3385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algun Gothic"/>
              </a:rPr>
              <a:t>R 자체의 다중 GS degeneracy → HD와 ΔE가 반대 방향으로 극값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solidFill>
            <a:srgbClr val="E57300"/>
          </a:solidFill>
          <a:ln>
            <a:solidFill>
              <a:srgbClr val="E57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HD 측면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5303520" cy="4023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  <a:latin typeface="Malgun Gothic"/>
              </a:rPr>
              <a:t>평균 HD = </a:t>
            </a:r>
            <a:r>
              <a:rPr sz="2200" b="1">
                <a:solidFill>
                  <a:srgbClr val="C0392B"/>
                </a:solidFill>
                <a:latin typeface="Malgun Gothic"/>
              </a:rPr>
              <a:t>459.04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(n=5612의 </a:t>
            </a:r>
            <a:r>
              <a:rPr sz="1300" b="1">
                <a:solidFill>
                  <a:srgbClr val="C0392B"/>
                </a:solidFill>
                <a:latin typeface="Malgun Gothic"/>
              </a:rPr>
              <a:t>8.17%</a:t>
            </a:r>
            <a:r>
              <a:rPr sz="1300" b="0">
                <a:solidFill>
                  <a:srgbClr val="101010"/>
                </a:solidFill>
                <a:latin typeface="Malgun Gothic"/>
              </a:rPr>
              <a:t>)</a:t>
            </a:r>
          </a:p>
          <a:p>
            <a:pPr algn="l"/>
            <a:r>
              <a:rPr sz="800" b="0">
                <a:solidFill>
                  <a:srgbClr val="101010"/>
                </a:solidFill>
                <a:latin typeface="Malgun Gothic"/>
              </a:rPr>
              <a:t/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→ 10개 α 중 </a:t>
            </a:r>
            <a:r>
              <a:rPr sz="1300" b="1">
                <a:solidFill>
                  <a:srgbClr val="C0392B"/>
                </a:solidFill>
                <a:latin typeface="Malgun Gothic"/>
              </a:rPr>
              <a:t>최댓값</a:t>
            </a:r>
          </a:p>
          <a:p>
            <a:pPr algn="l"/>
            <a:r>
              <a:rPr sz="800" b="0">
                <a:solidFill>
                  <a:srgbClr val="101010"/>
                </a:solidFill>
                <a:latin typeface="Malgun Gothic"/>
              </a:rPr>
              <a:t/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SA가 </a:t>
            </a:r>
            <a:r>
              <a:rPr sz="1300" b="1">
                <a:solidFill>
                  <a:srgbClr val="E57300"/>
                </a:solidFill>
                <a:latin typeface="Malgun Gothic"/>
              </a:rPr>
              <a:t>다수의 R-GS를 찾음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각 R-GS는 target과 </a:t>
            </a:r>
            <a:r>
              <a:rPr sz="1300" b="1">
                <a:solidFill>
                  <a:srgbClr val="E57300"/>
                </a:solidFill>
                <a:latin typeface="Malgun Gothic"/>
              </a:rPr>
              <a:t>비트 패턴 다름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Malgun Gothic"/>
              </a:rPr>
              <a:t>  – target은 brute force가 임의 선택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500/500 inst 모두 </a:t>
            </a:r>
            <a:r>
              <a:rPr sz="1300" b="1">
                <a:solidFill>
                  <a:srgbClr val="C0392B"/>
                </a:solidFill>
                <a:latin typeface="Malgun Gothic"/>
              </a:rPr>
              <a:t>0% target hit</a:t>
            </a:r>
          </a:p>
          <a:p>
            <a:pPr algn="l"/>
            <a:r>
              <a:rPr sz="800" b="0">
                <a:solidFill>
                  <a:srgbClr val="101010"/>
                </a:solidFill>
                <a:latin typeface="Malgun Gothic"/>
              </a:rPr>
              <a:t/>
            </a:r>
          </a:p>
          <a:p>
            <a:pPr algn="l"/>
            <a:r>
              <a:rPr sz="1300" b="1">
                <a:solidFill>
                  <a:srgbClr val="1F3A68"/>
                </a:solidFill>
                <a:latin typeface="Malgun Gothic"/>
              </a:rPr>
              <a:t>⇒ HD: </a:t>
            </a:r>
            <a:r>
              <a:rPr sz="1300" b="1">
                <a:solidFill>
                  <a:srgbClr val="C0392B"/>
                </a:solidFill>
                <a:latin typeface="Malgun Gothic"/>
              </a:rPr>
              <a:t>"target에서 매우 멀다"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554480"/>
            <a:ext cx="5486400" cy="457200"/>
          </a:xfrm>
          <a:prstGeom prst="rect">
            <a:avLst/>
          </a:prstGeom>
          <a:solidFill>
            <a:srgbClr val="008080"/>
          </a:solidFill>
          <a:ln>
            <a:solidFill>
              <a:srgbClr val="0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60020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ΔE 측면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011680"/>
            <a:ext cx="5486400" cy="411480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103120"/>
            <a:ext cx="5303520" cy="4023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  <a:latin typeface="Malgun Gothic"/>
              </a:rPr>
              <a:t>평균 ΔE = </a:t>
            </a:r>
            <a:r>
              <a:rPr sz="2200" b="1">
                <a:solidFill>
                  <a:srgbClr val="278F4D"/>
                </a:solidFill>
                <a:latin typeface="Malgun Gothic"/>
              </a:rPr>
              <a:t>0.569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(Valley plateau 1.17의 </a:t>
            </a:r>
            <a:r>
              <a:rPr sz="1300" b="1">
                <a:solidFill>
                  <a:srgbClr val="278F4D"/>
                </a:solidFill>
                <a:latin typeface="Malgun Gothic"/>
              </a:rPr>
              <a:t>절반</a:t>
            </a:r>
            <a:r>
              <a:rPr sz="1300" b="0">
                <a:solidFill>
                  <a:srgbClr val="101010"/>
                </a:solidFill>
                <a:latin typeface="Malgun Gothic"/>
              </a:rPr>
              <a:t>)</a:t>
            </a:r>
          </a:p>
          <a:p>
            <a:pPr algn="l"/>
            <a:r>
              <a:rPr sz="800" b="0">
                <a:solidFill>
                  <a:srgbClr val="101010"/>
                </a:solidFill>
                <a:latin typeface="Malgun Gothic"/>
              </a:rPr>
              <a:t/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→ 10개 α 중 </a:t>
            </a:r>
            <a:r>
              <a:rPr sz="1300" b="1">
                <a:solidFill>
                  <a:srgbClr val="278F4D"/>
                </a:solidFill>
                <a:latin typeface="Malgun Gothic"/>
              </a:rPr>
              <a:t>최솟값</a:t>
            </a:r>
          </a:p>
          <a:p>
            <a:pPr algn="l"/>
            <a:r>
              <a:rPr sz="800" b="0">
                <a:solidFill>
                  <a:srgbClr val="101010"/>
                </a:solidFill>
                <a:latin typeface="Malgun Gothic"/>
              </a:rPr>
              <a:t/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표본의 </a:t>
            </a:r>
            <a:r>
              <a:rPr sz="1300" b="1">
                <a:solidFill>
                  <a:srgbClr val="278F4D"/>
                </a:solidFill>
                <a:latin typeface="Malgun Gothic"/>
              </a:rPr>
              <a:t>56.6%가 ΔE = 0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Malgun Gothic"/>
              </a:rPr>
              <a:t>  – 어떤 R-GS에는 도달 (target 아니더라도)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500/500 inst가 "어떤 GS는" 찾음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ΔE=0 = 에너지 일치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Malgun Gothic"/>
              </a:rPr>
              <a:t>  – 비트 다르지만 </a:t>
            </a:r>
            <a:r>
              <a:rPr sz="1200" b="1">
                <a:solidFill>
                  <a:srgbClr val="1F3A68"/>
                </a:solidFill>
                <a:latin typeface="Malgun Gothic"/>
              </a:rPr>
              <a:t>R landscape에선 동일</a:t>
            </a:r>
          </a:p>
          <a:p>
            <a:pPr algn="l"/>
            <a:r>
              <a:rPr sz="800" b="0">
                <a:solidFill>
                  <a:srgbClr val="101010"/>
                </a:solidFill>
                <a:latin typeface="Malgun Gothic"/>
              </a:rPr>
              <a:t/>
            </a:r>
          </a:p>
          <a:p>
            <a:pPr algn="l"/>
            <a:r>
              <a:rPr sz="1300" b="1">
                <a:solidFill>
                  <a:srgbClr val="1F3A68"/>
                </a:solidFill>
                <a:latin typeface="Malgun Gothic"/>
              </a:rPr>
              <a:t>⇒ ΔE: </a:t>
            </a:r>
            <a:r>
              <a:rPr sz="1300" b="1">
                <a:solidFill>
                  <a:srgbClr val="278F4D"/>
                </a:solidFill>
                <a:latin typeface="Malgun Gothic"/>
              </a:rPr>
              <a:t>"이미 GS valley 안에 있다"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263640"/>
            <a:ext cx="11338560" cy="164592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Result C — Valley of Death (5 decade 평탄)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HD + ΔE Dual-Metric α-Difficulty Spectroscopy — Yideun Kim, KNU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2801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algun Gothic"/>
              </a:rPr>
              <a:t>9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3385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3A68"/>
                </a:solidFill>
                <a:latin typeface="Malgun Gothic"/>
              </a:rPr>
              <a:t>α ∈ [10⁻⁹, 10⁻⁴]: HD와 ΔE 둘 다 평탄 → αP epsilon-perturbation invariance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371600" cy="384048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α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463040"/>
            <a:ext cx="1463040" cy="384048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527048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평균 HD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1554480" cy="384048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527048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HD 변동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463040"/>
            <a:ext cx="1554480" cy="384048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527048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평균 ΔE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463040"/>
            <a:ext cx="1554480" cy="384048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27048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ΔE 변동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1463040"/>
            <a:ext cx="1371600" cy="384048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1527048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GS%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847088"/>
            <a:ext cx="13716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191109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10⁻⁹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0" y="1847088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1911096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70.40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1847088"/>
            <a:ext cx="15544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1911096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1847088"/>
            <a:ext cx="15544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1911096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1.100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847088"/>
            <a:ext cx="15544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911096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0" y="1847088"/>
            <a:ext cx="13716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0" y="191109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0.0%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2231136"/>
            <a:ext cx="13716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2295144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10⁻⁵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28800" y="2231136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828800" y="2295144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70.25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91840" y="2231136"/>
            <a:ext cx="15544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91840" y="2295144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−0.2%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846320" y="2231136"/>
            <a:ext cx="15544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46320" y="2295144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1.092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00800" y="2231136"/>
            <a:ext cx="15544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0" y="2295144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−0.7%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955280" y="2231136"/>
            <a:ext cx="13716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955280" y="2295144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0.0%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2615184"/>
            <a:ext cx="1371600" cy="384048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2679192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10⁻⁴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828800" y="2615184"/>
            <a:ext cx="1463040" cy="384048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828800" y="2679192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69.84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291840" y="2615184"/>
            <a:ext cx="1554480" cy="384048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291840" y="2679192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−0.8%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846320" y="2615184"/>
            <a:ext cx="1554480" cy="384048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846320" y="2679192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1.153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400800" y="2615184"/>
            <a:ext cx="1554480" cy="384048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00800" y="2679192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+4.8%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955280" y="2615184"/>
            <a:ext cx="1371600" cy="384048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955280" y="2679192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0.0%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418320" y="1463040"/>
            <a:ext cx="2468880" cy="274320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509760" y="150876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Malgun Gothic"/>
              </a:rPr>
              <a:t>결정적 관찰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555480" y="1874519"/>
            <a:ext cx="2286000" cy="2286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E57300"/>
                </a:solidFill>
                <a:latin typeface="Malgun Gothic"/>
              </a:rPr>
              <a:t>HD: ±0.8%</a:t>
            </a:r>
          </a:p>
          <a:p>
            <a:pPr algn="l"/>
            <a:r>
              <a:rPr sz="1300" b="1">
                <a:solidFill>
                  <a:srgbClr val="E57300"/>
                </a:solidFill>
                <a:latin typeface="Malgun Gothic"/>
              </a:rPr>
              <a:t>ΔE: +4.8%</a:t>
            </a:r>
          </a:p>
          <a:p>
            <a:pPr algn="l"/>
            <a:r>
              <a:rPr sz="600" b="0">
                <a:solidFill>
                  <a:srgbClr val="101010"/>
                </a:solidFill>
                <a:latin typeface="Malgun Gothic"/>
              </a:rPr>
              <a:t/>
            </a:r>
          </a:p>
          <a:p>
            <a:pPr algn="l"/>
            <a:r>
              <a:rPr sz="1400" b="1">
                <a:solidFill>
                  <a:srgbClr val="1F3A68"/>
                </a:solidFill>
                <a:latin typeface="Malgun Gothic"/>
              </a:rPr>
              <a:t>5 decade</a:t>
            </a:r>
          </a:p>
          <a:p>
            <a:pPr algn="l"/>
            <a:r>
              <a:rPr sz="1100" b="0">
                <a:solidFill>
                  <a:srgbClr val="555555"/>
                </a:solidFill>
                <a:latin typeface="Malgun Gothic"/>
              </a:rPr>
              <a:t>(10⁵ 배 변화)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Malgun Gothic"/>
              </a:rPr>
              <a:t>동안</a:t>
            </a:r>
          </a:p>
          <a:p>
            <a:pPr algn="l"/>
            <a:r>
              <a:rPr sz="1300" b="1">
                <a:solidFill>
                  <a:srgbClr val="C0392B"/>
                </a:solidFill>
                <a:latin typeface="Malgun Gothic"/>
              </a:rPr>
              <a:t>둘 다 거의 정지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4937760"/>
            <a:ext cx="11338560" cy="137160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8640" y="4983480"/>
            <a:ext cx="111556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Malgun Gothic"/>
              </a:rPr>
              <a:t>해석: αP의 ε-perturbation invariance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8640" y="5349240"/>
            <a:ext cx="1115568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  <a:latin typeface="Malgun Gothic"/>
              </a:rPr>
              <a:t>• SA가 도달하는 표본 ensemble이 </a:t>
            </a:r>
            <a:r>
              <a:rPr sz="1400" b="1">
                <a:solidFill>
                  <a:srgbClr val="C0392B"/>
                </a:solidFill>
                <a:latin typeface="Malgun Gothic"/>
              </a:rPr>
              <a:t>αP 크기와 무관하게 동일</a:t>
            </a:r>
          </a:p>
          <a:p>
            <a:pPr algn="l"/>
            <a:r>
              <a:rPr sz="1400" b="0">
                <a:solidFill>
                  <a:srgbClr val="101010"/>
                </a:solidFill>
                <a:latin typeface="Malgun Gothic"/>
              </a:rPr>
              <a:t>• → SA는 R이 만드는 trap에 갇혀 있고, P는 결정에 무관한 영역</a:t>
            </a:r>
          </a:p>
          <a:p>
            <a:pPr algn="l"/>
            <a:r>
              <a:rPr sz="1400" b="0">
                <a:solidFill>
                  <a:srgbClr val="101010"/>
                </a:solidFill>
                <a:latin typeface="Malgun Gothic"/>
              </a:rPr>
              <a:t>• → posiform이 진정 활성되려면 α가 임계값을 넘어야 (실제 α≈10⁻³ 직후)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Result D — α=10⁻² Peak + Cliff Escape (신규 3α)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HD + ΔE Dual-Metric α-Difficulty Spectroscopy — Yideun Kim, KNU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2801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algun Gothic"/>
              </a:rPr>
              <a:t>10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3385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3A68"/>
                </a:solidFill>
                <a:latin typeface="Malgun Gothic"/>
              </a:rPr>
              <a:t>HD↓이지만 ΔE↑ — trap 깊이 심화 (단일 지표로 측정 불가)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1371600" cy="384048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α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508760"/>
            <a:ext cx="1463040" cy="384048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572768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평균 HD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508760"/>
            <a:ext cx="1554480" cy="384048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572768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평균 ΔE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508760"/>
            <a:ext cx="1371600" cy="384048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572768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GS%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508760"/>
            <a:ext cx="5212080" cy="384048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572768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비고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892808"/>
            <a:ext cx="13716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95681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10⁻³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1892808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1956816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64.44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1892808"/>
            <a:ext cx="15544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1956816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1.694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1892808"/>
            <a:ext cx="13716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195681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0.0%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892808"/>
            <a:ext cx="52120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956816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cliff 직전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276856"/>
            <a:ext cx="1371600" cy="384048"/>
          </a:xfrm>
          <a:prstGeom prst="rect">
            <a:avLst/>
          </a:prstGeom>
          <a:solidFill>
            <a:srgbClr val="FFE0CC"/>
          </a:solidFill>
          <a:ln>
            <a:solidFill>
              <a:srgbClr val="FFE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340864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101010"/>
                </a:solidFill>
                <a:latin typeface="Malgun Gothic"/>
              </a:rPr>
              <a:t>10⁻²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0" y="2276856"/>
            <a:ext cx="1463040" cy="384048"/>
          </a:xfrm>
          <a:prstGeom prst="rect">
            <a:avLst/>
          </a:prstGeom>
          <a:solidFill>
            <a:srgbClr val="FFE0CC"/>
          </a:solidFill>
          <a:ln>
            <a:solidFill>
              <a:srgbClr val="FFE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0" y="2340864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101010"/>
                </a:solidFill>
                <a:latin typeface="Malgun Gothic"/>
              </a:rPr>
              <a:t>24.96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2276856"/>
            <a:ext cx="1554480" cy="384048"/>
          </a:xfrm>
          <a:prstGeom prst="rect">
            <a:avLst/>
          </a:prstGeom>
          <a:solidFill>
            <a:srgbClr val="FFE0CC"/>
          </a:solidFill>
          <a:ln>
            <a:solidFill>
              <a:srgbClr val="FFE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2340864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101010"/>
                </a:solidFill>
                <a:latin typeface="Malgun Gothic"/>
              </a:rPr>
              <a:t>2.976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2276856"/>
            <a:ext cx="1371600" cy="384048"/>
          </a:xfrm>
          <a:prstGeom prst="rect">
            <a:avLst/>
          </a:prstGeom>
          <a:solidFill>
            <a:srgbClr val="FFE0CC"/>
          </a:solidFill>
          <a:ln>
            <a:solidFill>
              <a:srgbClr val="FFE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2340864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101010"/>
                </a:solidFill>
                <a:latin typeface="Malgun Gothic"/>
              </a:rPr>
              <a:t>1.1%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2276856"/>
            <a:ext cx="5212080" cy="384048"/>
          </a:xfrm>
          <a:prstGeom prst="rect">
            <a:avLst/>
          </a:prstGeom>
          <a:solidFill>
            <a:srgbClr val="FFE0CC"/>
          </a:solidFill>
          <a:ln>
            <a:solidFill>
              <a:srgbClr val="FFE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2340864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01010"/>
                </a:solidFill>
                <a:latin typeface="Malgun Gothic"/>
              </a:rPr>
              <a:t>ΔE peak (HD↓, ΔE↑ 반대)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660904"/>
            <a:ext cx="1371600" cy="384048"/>
          </a:xfrm>
          <a:prstGeom prst="rect">
            <a:avLst/>
          </a:prstGeom>
          <a:solidFill>
            <a:srgbClr val="E5F5E0"/>
          </a:solidFill>
          <a:ln>
            <a:solidFill>
              <a:srgbClr val="E5F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2724912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101010"/>
                </a:solidFill>
                <a:latin typeface="Malgun Gothic"/>
              </a:rPr>
              <a:t>2×10⁻²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2660904"/>
            <a:ext cx="1463040" cy="384048"/>
          </a:xfrm>
          <a:prstGeom prst="rect">
            <a:avLst/>
          </a:prstGeom>
          <a:solidFill>
            <a:srgbClr val="E5F5E0"/>
          </a:solidFill>
          <a:ln>
            <a:solidFill>
              <a:srgbClr val="E5F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28800" y="2724912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101010"/>
                </a:solidFill>
                <a:latin typeface="Malgun Gothic"/>
              </a:rPr>
              <a:t>7.16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2660904"/>
            <a:ext cx="1554480" cy="384048"/>
          </a:xfrm>
          <a:prstGeom prst="rect">
            <a:avLst/>
          </a:prstGeom>
          <a:solidFill>
            <a:srgbClr val="E5F5E0"/>
          </a:solidFill>
          <a:ln>
            <a:solidFill>
              <a:srgbClr val="E5F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2724912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101010"/>
                </a:solidFill>
                <a:latin typeface="Malgun Gothic"/>
              </a:rPr>
              <a:t>1.451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2660904"/>
            <a:ext cx="1371600" cy="384048"/>
          </a:xfrm>
          <a:prstGeom prst="rect">
            <a:avLst/>
          </a:prstGeom>
          <a:solidFill>
            <a:srgbClr val="E5F5E0"/>
          </a:solidFill>
          <a:ln>
            <a:solidFill>
              <a:srgbClr val="E5F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6320" y="2724912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101010"/>
                </a:solidFill>
                <a:latin typeface="Malgun Gothic"/>
              </a:rPr>
              <a:t>24.3%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2660904"/>
            <a:ext cx="5212080" cy="384048"/>
          </a:xfrm>
          <a:prstGeom prst="rect">
            <a:avLst/>
          </a:prstGeom>
          <a:solidFill>
            <a:srgbClr val="E5F5E0"/>
          </a:solidFill>
          <a:ln>
            <a:solidFill>
              <a:srgbClr val="E5F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2724912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01010"/>
                </a:solidFill>
                <a:latin typeface="Malgun Gothic"/>
              </a:rPr>
              <a:t>(신규) escape 시작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044952"/>
            <a:ext cx="1371600" cy="384048"/>
          </a:xfrm>
          <a:prstGeom prst="rect">
            <a:avLst/>
          </a:prstGeom>
          <a:solidFill>
            <a:srgbClr val="E5F5E0"/>
          </a:solidFill>
          <a:ln>
            <a:solidFill>
              <a:srgbClr val="E5F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108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101010"/>
                </a:solidFill>
                <a:latin typeface="Malgun Gothic"/>
              </a:rPr>
              <a:t>4×10⁻²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0" y="3044952"/>
            <a:ext cx="1463040" cy="384048"/>
          </a:xfrm>
          <a:prstGeom prst="rect">
            <a:avLst/>
          </a:prstGeom>
          <a:solidFill>
            <a:srgbClr val="E5F5E0"/>
          </a:solidFill>
          <a:ln>
            <a:solidFill>
              <a:srgbClr val="E5F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28800" y="3108960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101010"/>
                </a:solidFill>
                <a:latin typeface="Malgun Gothic"/>
              </a:rPr>
              <a:t>0.51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91840" y="3044952"/>
            <a:ext cx="1554480" cy="384048"/>
          </a:xfrm>
          <a:prstGeom prst="rect">
            <a:avLst/>
          </a:prstGeom>
          <a:solidFill>
            <a:srgbClr val="E5F5E0"/>
          </a:solidFill>
          <a:ln>
            <a:solidFill>
              <a:srgbClr val="E5F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91840" y="3108960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101010"/>
                </a:solidFill>
                <a:latin typeface="Malgun Gothic"/>
              </a:rPr>
              <a:t>0.151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46320" y="3044952"/>
            <a:ext cx="1371600" cy="384048"/>
          </a:xfrm>
          <a:prstGeom prst="rect">
            <a:avLst/>
          </a:prstGeom>
          <a:solidFill>
            <a:srgbClr val="E5F5E0"/>
          </a:solidFill>
          <a:ln>
            <a:solidFill>
              <a:srgbClr val="E5F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46320" y="3108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101010"/>
                </a:solidFill>
                <a:latin typeface="Malgun Gothic"/>
              </a:rPr>
              <a:t>87.9%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3044952"/>
            <a:ext cx="5212080" cy="384048"/>
          </a:xfrm>
          <a:prstGeom prst="rect">
            <a:avLst/>
          </a:prstGeom>
          <a:solidFill>
            <a:srgbClr val="E5F5E0"/>
          </a:solidFill>
          <a:ln>
            <a:solidFill>
              <a:srgbClr val="E5F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3108960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01010"/>
                </a:solidFill>
                <a:latin typeface="Malgun Gothic"/>
              </a:rPr>
              <a:t>(신규) 대부분 escape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3429000"/>
            <a:ext cx="1371600" cy="384048"/>
          </a:xfrm>
          <a:prstGeom prst="rect">
            <a:avLst/>
          </a:prstGeom>
          <a:solidFill>
            <a:srgbClr val="E5F5E0"/>
          </a:solidFill>
          <a:ln>
            <a:solidFill>
              <a:srgbClr val="E5F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3493008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101010"/>
                </a:solidFill>
                <a:latin typeface="Malgun Gothic"/>
              </a:rPr>
              <a:t>7×10⁻²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0" y="3429000"/>
            <a:ext cx="1463040" cy="384048"/>
          </a:xfrm>
          <a:prstGeom prst="rect">
            <a:avLst/>
          </a:prstGeom>
          <a:solidFill>
            <a:srgbClr val="E5F5E0"/>
          </a:solidFill>
          <a:ln>
            <a:solidFill>
              <a:srgbClr val="E5F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28800" y="3493008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101010"/>
                </a:solidFill>
                <a:latin typeface="Malgun Gothic"/>
              </a:rPr>
              <a:t>0.03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91840" y="3429000"/>
            <a:ext cx="1554480" cy="384048"/>
          </a:xfrm>
          <a:prstGeom prst="rect">
            <a:avLst/>
          </a:prstGeom>
          <a:solidFill>
            <a:srgbClr val="E5F5E0"/>
          </a:solidFill>
          <a:ln>
            <a:solidFill>
              <a:srgbClr val="E5F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91840" y="3493008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101010"/>
                </a:solidFill>
                <a:latin typeface="Malgun Gothic"/>
              </a:rPr>
              <a:t>0.006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46320" y="3429000"/>
            <a:ext cx="1371600" cy="384048"/>
          </a:xfrm>
          <a:prstGeom prst="rect">
            <a:avLst/>
          </a:prstGeom>
          <a:solidFill>
            <a:srgbClr val="E5F5E0"/>
          </a:solidFill>
          <a:ln>
            <a:solidFill>
              <a:srgbClr val="E5F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46320" y="3493008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101010"/>
                </a:solidFill>
                <a:latin typeface="Malgun Gothic"/>
              </a:rPr>
              <a:t>99.4%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17920" y="3429000"/>
            <a:ext cx="5212080" cy="384048"/>
          </a:xfrm>
          <a:prstGeom prst="rect">
            <a:avLst/>
          </a:prstGeom>
          <a:solidFill>
            <a:srgbClr val="E5F5E0"/>
          </a:solidFill>
          <a:ln>
            <a:solidFill>
              <a:srgbClr val="E5F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09360" y="3493008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01010"/>
                </a:solidFill>
                <a:latin typeface="Malgun Gothic"/>
              </a:rPr>
              <a:t>(신규) 거의 수렴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3813048"/>
            <a:ext cx="1371600" cy="384048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387705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10⁻¹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28800" y="3813048"/>
            <a:ext cx="1463040" cy="384048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828800" y="3877056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0.005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91840" y="3813048"/>
            <a:ext cx="1554480" cy="384048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91840" y="3877056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0.0009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846320" y="3813048"/>
            <a:ext cx="1371600" cy="384048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46320" y="387705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01010"/>
                </a:solidFill>
                <a:latin typeface="Malgun Gothic"/>
              </a:rPr>
              <a:t>99.8%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17920" y="3813048"/>
            <a:ext cx="5212080" cy="384048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3877056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완전 수렴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4251960"/>
            <a:ext cx="5486400" cy="210312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429768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Malgun Gothic"/>
              </a:rPr>
              <a:t>핵심 #1 — α=10⁻²의 반대 신호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4663440"/>
            <a:ext cx="530352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01010"/>
                </a:solidFill>
                <a:latin typeface="Malgun Gothic"/>
              </a:rPr>
              <a:t>α=10⁻³ → 10⁻²: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  HD: 64.44 → 24.96 </a:t>
            </a:r>
            <a:r>
              <a:rPr sz="1300" b="1">
                <a:solidFill>
                  <a:srgbClr val="278F4D"/>
                </a:solidFill>
                <a:latin typeface="Malgun Gothic"/>
              </a:rPr>
              <a:t>(−60%)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  ΔE: 1.74 → 2.976 </a:t>
            </a:r>
            <a:r>
              <a:rPr sz="1300" b="1">
                <a:solidFill>
                  <a:srgbClr val="C0392B"/>
                </a:solidFill>
                <a:latin typeface="Malgun Gothic"/>
              </a:rPr>
              <a:t>(+72%)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Malgun Gothic"/>
              </a:rPr>
              <a:t>• 1.2% sample만 target 도달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Malgun Gothic"/>
              </a:rPr>
              <a:t>• 98.8%는 </a:t>
            </a:r>
            <a:r>
              <a:rPr sz="1200" b="1">
                <a:solidFill>
                  <a:srgbClr val="C0392B"/>
                </a:solidFill>
                <a:latin typeface="Malgun Gothic"/>
              </a:rPr>
              <a:t>더 깊은 trap</a:t>
            </a:r>
            <a:r>
              <a:rPr sz="1200" b="0">
                <a:solidFill>
                  <a:srgbClr val="101010"/>
                </a:solidFill>
                <a:latin typeface="Malgun Gothic"/>
              </a:rPr>
              <a:t>으로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Malgun Gothic"/>
              </a:rPr>
              <a:t>→ HD만으론 </a:t>
            </a:r>
            <a:r>
              <a:rPr sz="1200" b="1">
                <a:solidFill>
                  <a:srgbClr val="C0392B"/>
                </a:solidFill>
                <a:latin typeface="Malgun Gothic"/>
              </a:rPr>
              <a:t>절대 안 보이는</a:t>
            </a:r>
            <a:r>
              <a:rPr sz="1200" b="0">
                <a:solidFill>
                  <a:srgbClr val="101010"/>
                </a:solidFill>
                <a:latin typeface="Malgun Gothic"/>
              </a:rPr>
              <a:t> 현상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126480" y="4251960"/>
            <a:ext cx="5669280" cy="210312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17920" y="42976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278F4D"/>
                </a:solidFill>
                <a:latin typeface="Malgun Gothic"/>
              </a:rPr>
              <a:t>핵심 #2 — Cliff 해상 (신규 α=0.02, 0.04, 0.07)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17920" y="4663440"/>
            <a:ext cx="548640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α=10⁻²와 10⁻¹ 사이 </a:t>
            </a:r>
            <a:r>
              <a:rPr sz="1300" b="1">
                <a:solidFill>
                  <a:srgbClr val="E57300"/>
                </a:solidFill>
                <a:latin typeface="Malgun Gothic"/>
              </a:rPr>
              <a:t>두 자릿수 gap 해상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Malgun Gothic"/>
              </a:rPr>
              <a:t>• ΔE 진행: 3.0 → 1.39 → 0.14 → 0.006</a:t>
            </a:r>
          </a:p>
          <a:p>
            <a:pPr algn="l"/>
            <a:r>
              <a:rPr sz="1200" b="1">
                <a:solidFill>
                  <a:srgbClr val="1F3A68"/>
                </a:solidFill>
                <a:latin typeface="Malgun Gothic"/>
              </a:rPr>
              <a:t>  (5 decade dynamic range로 escape 추적)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Malgun Gothic"/>
              </a:rPr>
              <a:t>• HD: 25.5 → 0.03 (정수 바닥에 갇힘)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Malgun Gothic"/>
              </a:rPr>
              <a:t>• ΔE는 부동소수점 한계까지 </a:t>
            </a:r>
            <a:r>
              <a:rPr sz="1200" b="1">
                <a:solidFill>
                  <a:srgbClr val="278F4D"/>
                </a:solidFill>
                <a:latin typeface="Malgun Gothic"/>
              </a:rPr>
              <a:t>연속 추적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Malgun Gothic"/>
              </a:rPr>
              <a:t>→ ΔE가 "완전 수렴" 진단량으로 우월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Discussion — 두 지표가 환원 불가능하게 상보적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HD + ΔE Dual-Metric α-Difficulty Spectroscopy — Yideun Kim, KNU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2801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algun Gothic"/>
              </a:rPr>
              <a:t>11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3385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3A68"/>
                </a:solidFill>
                <a:latin typeface="Malgun Gothic"/>
              </a:rPr>
              <a:t>단일 지표가 놓치는 정보의 4가지 영역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solidFill>
            <a:srgbClr val="E57300"/>
          </a:solidFill>
          <a:ln>
            <a:solidFill>
              <a:srgbClr val="E57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① α = 0 (R 단독)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5486400" cy="182880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101010"/>
                </a:solidFill>
                <a:latin typeface="Malgun Gothic"/>
              </a:rPr>
              <a:t>HD: max (459)     ΔE: min (0.57)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5212080" cy="1737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두 지표 </a:t>
            </a:r>
            <a:r>
              <a:rPr sz="1300" b="1">
                <a:solidFill>
                  <a:srgbClr val="C0392B"/>
                </a:solidFill>
                <a:latin typeface="Malgun Gothic"/>
              </a:rPr>
              <a:t>반대 방향</a:t>
            </a:r>
            <a:r>
              <a:rPr sz="1300" b="0">
                <a:solidFill>
                  <a:srgbClr val="101010"/>
                </a:solidFill>
                <a:latin typeface="Malgun Gothic"/>
              </a:rPr>
              <a:t> 극값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→ R-degeneracy 지문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Malgun Gothic"/>
              </a:rPr>
              <a:t>• HD 단독: "매우 어렵다" 오해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Malgun Gothic"/>
              </a:rPr>
              <a:t>• ΔE 단독: "이미 풀렸다" 오해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Malgun Gothic"/>
              </a:rPr>
              <a:t>→ 둘 다 봐야 </a:t>
            </a:r>
            <a:r>
              <a:rPr sz="1200" b="1">
                <a:solidFill>
                  <a:srgbClr val="1F3A68"/>
                </a:solidFill>
                <a:latin typeface="Malgun Gothic"/>
              </a:rPr>
              <a:t>다중 GS의 임의 선택</a:t>
            </a:r>
            <a:r>
              <a:rPr sz="1200" b="0">
                <a:solidFill>
                  <a:srgbClr val="101010"/>
                </a:solidFill>
                <a:latin typeface="Malgun Gothic"/>
              </a:rPr>
              <a:t> 이해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554480"/>
            <a:ext cx="5669280" cy="365760"/>
          </a:xfrm>
          <a:prstGeom prst="rect">
            <a:avLst/>
          </a:prstGeom>
          <a:solidFill>
            <a:srgbClr val="008080"/>
          </a:solidFill>
          <a:ln>
            <a:solidFill>
              <a:srgbClr val="0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554480"/>
            <a:ext cx="5669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② Valley (α ∈ [10⁻⁹, 10⁻⁴])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920240"/>
            <a:ext cx="5669280" cy="182880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0116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101010"/>
                </a:solidFill>
                <a:latin typeface="Malgun Gothic"/>
              </a:rPr>
              <a:t>HD: ≈70 (flat)     ΔE: ≈1.10 (flat)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423160"/>
            <a:ext cx="5394960" cy="1737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두 지표 </a:t>
            </a:r>
            <a:r>
              <a:rPr sz="1300" b="1">
                <a:solidFill>
                  <a:srgbClr val="008080"/>
                </a:solidFill>
                <a:latin typeface="Malgun Gothic"/>
              </a:rPr>
              <a:t>둘 다 평탄</a:t>
            </a:r>
            <a:r>
              <a:rPr sz="1300" b="0">
                <a:solidFill>
                  <a:srgbClr val="101010"/>
                </a:solidFill>
                <a:latin typeface="Malgun Gothic"/>
              </a:rPr>
              <a:t> (5 decade)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→ αP epsilon-perturbation invariance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Malgun Gothic"/>
              </a:rPr>
              <a:t>• Success rate는 0%로 saturate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Malgun Gothic"/>
              </a:rPr>
              <a:t>• HD만으론 </a:t>
            </a:r>
            <a:r>
              <a:rPr sz="1200" b="1">
                <a:solidFill>
                  <a:srgbClr val="C0392B"/>
                </a:solidFill>
                <a:latin typeface="Malgun Gothic"/>
              </a:rPr>
              <a:t>"왜 평탄?"</a:t>
            </a:r>
            <a:r>
              <a:rPr sz="1200" b="0">
                <a:solidFill>
                  <a:srgbClr val="101010"/>
                </a:solidFill>
                <a:latin typeface="Malgun Gothic"/>
              </a:rPr>
              <a:t> 모름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Malgun Gothic"/>
              </a:rPr>
              <a:t>→ ΔE 평탄도가 </a:t>
            </a:r>
            <a:r>
              <a:rPr sz="1200" b="1">
                <a:solidFill>
                  <a:srgbClr val="1F3A68"/>
                </a:solidFill>
                <a:latin typeface="Malgun Gothic"/>
              </a:rPr>
              <a:t>R-trap에 갇힘</a:t>
            </a:r>
            <a:r>
              <a:rPr sz="1200" b="0">
                <a:solidFill>
                  <a:srgbClr val="101010"/>
                </a:solidFill>
                <a:latin typeface="Malgun Gothic"/>
              </a:rPr>
              <a:t> 입증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③ α = 10⁻² (전이점)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5486400" cy="182880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9768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101010"/>
                </a:solidFill>
                <a:latin typeface="Malgun Gothic"/>
              </a:rPr>
              <a:t>HD: ↓ (64→25)     ΔE: ↑ (1.69→2.98)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709160"/>
            <a:ext cx="5212080" cy="1737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두 지표 </a:t>
            </a:r>
            <a:r>
              <a:rPr sz="1300" b="1">
                <a:solidFill>
                  <a:srgbClr val="C0392B"/>
                </a:solidFill>
                <a:latin typeface="Malgun Gothic"/>
              </a:rPr>
              <a:t>반대 방향</a:t>
            </a:r>
            <a:r>
              <a:rPr sz="1300" b="0">
                <a:solidFill>
                  <a:srgbClr val="101010"/>
                </a:solidFill>
                <a:latin typeface="Malgun Gothic"/>
              </a:rPr>
              <a:t> 변화 (HD↓, ΔE↑)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→ </a:t>
            </a:r>
            <a:r>
              <a:rPr sz="1300" b="1">
                <a:solidFill>
                  <a:srgbClr val="C0392B"/>
                </a:solidFill>
                <a:latin typeface="Malgun Gothic"/>
              </a:rPr>
              <a:t>trap 깊이 심화 (pre-cliff peak)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Malgun Gothic"/>
              </a:rPr>
              <a:t>• HD 단독: "가까워진다" 만 보임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Malgun Gothic"/>
              </a:rPr>
              <a:t>• ΔE 단독: peak 위치 알지만 </a:t>
            </a:r>
            <a:r>
              <a:rPr sz="1200" b="1">
                <a:solidFill>
                  <a:srgbClr val="C0392B"/>
                </a:solidFill>
                <a:latin typeface="Malgun Gothic"/>
              </a:rPr>
              <a:t>HD↓ 모름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Malgun Gothic"/>
              </a:rPr>
              <a:t>→ 두 지표 동시: </a:t>
            </a:r>
            <a:r>
              <a:rPr sz="1200" b="1">
                <a:solidFill>
                  <a:srgbClr val="1F3A68"/>
                </a:solidFill>
                <a:latin typeface="Malgun Gothic"/>
              </a:rPr>
              <a:t>bimodal 전이 진단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840480"/>
            <a:ext cx="5669280" cy="365760"/>
          </a:xfrm>
          <a:prstGeom prst="rect">
            <a:avLst/>
          </a:prstGeom>
          <a:solidFill>
            <a:srgbClr val="278F4D"/>
          </a:solidFill>
          <a:ln>
            <a:solidFill>
              <a:srgbClr val="278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840480"/>
            <a:ext cx="5669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④ Cliff (α ∈ [0.02, 0.1])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206240"/>
            <a:ext cx="5669280" cy="182880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2976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101010"/>
                </a:solidFill>
                <a:latin typeface="Malgun Gothic"/>
              </a:rPr>
              <a:t>HD: 급락 → 0     ΔE: 급락 → 10⁻⁹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709160"/>
            <a:ext cx="5394960" cy="1737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두 지표 </a:t>
            </a:r>
            <a:r>
              <a:rPr sz="1300" b="1">
                <a:solidFill>
                  <a:srgbClr val="278F4D"/>
                </a:solidFill>
                <a:latin typeface="Malgun Gothic"/>
              </a:rPr>
              <a:t>같은 방향</a:t>
            </a:r>
            <a:r>
              <a:rPr sz="1300" b="0">
                <a:solidFill>
                  <a:srgbClr val="101010"/>
                </a:solidFill>
                <a:latin typeface="Malgun Gothic"/>
              </a:rPr>
              <a:t>, but…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HD: 25 → 0 (정수, </a:t>
            </a:r>
            <a:r>
              <a:rPr sz="1300" b="1">
                <a:solidFill>
                  <a:srgbClr val="101010"/>
                </a:solidFill>
                <a:latin typeface="Malgun Gothic"/>
              </a:rPr>
              <a:t>3 decade</a:t>
            </a:r>
            <a:r>
              <a:rPr sz="1300" b="0">
                <a:solidFill>
                  <a:srgbClr val="101010"/>
                </a:solidFill>
                <a:latin typeface="Malgun Gothic"/>
              </a:rPr>
              <a:t>)</a:t>
            </a:r>
          </a:p>
          <a:p>
            <a:pPr algn="l"/>
            <a:r>
              <a:rPr sz="1300" b="0">
                <a:solidFill>
                  <a:srgbClr val="101010"/>
                </a:solidFill>
                <a:latin typeface="Malgun Gothic"/>
              </a:rPr>
              <a:t>• ΔE: 3 → 10⁻⁹ (실수, </a:t>
            </a:r>
            <a:r>
              <a:rPr sz="1300" b="1">
                <a:solidFill>
                  <a:srgbClr val="278F4D"/>
                </a:solidFill>
                <a:latin typeface="Malgun Gothic"/>
              </a:rPr>
              <a:t>9 decade range</a:t>
            </a:r>
            <a:r>
              <a:rPr sz="1300" b="0">
                <a:solidFill>
                  <a:srgbClr val="101010"/>
                </a:solidFill>
                <a:latin typeface="Malgun Gothic"/>
              </a:rPr>
              <a:t>)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Malgun Gothic"/>
              </a:rPr>
              <a:t>→ ΔE가 </a:t>
            </a:r>
            <a:r>
              <a:rPr sz="1200" b="1">
                <a:solidFill>
                  <a:srgbClr val="1F3A68"/>
                </a:solidFill>
                <a:latin typeface="Malgun Gothic"/>
              </a:rPr>
              <a:t>부동소수점 한계까지 추적</a:t>
            </a:r>
          </a:p>
          <a:p>
            <a:pPr algn="l"/>
            <a:r>
              <a:rPr sz="1200" b="0">
                <a:solidFill>
                  <a:srgbClr val="101010"/>
                </a:solidFill>
                <a:latin typeface="Malgun Gothic"/>
              </a:rPr>
              <a:t>→ "완전 수렴" 진단량으로 </a:t>
            </a:r>
            <a:r>
              <a:rPr sz="1200" b="1">
                <a:solidFill>
                  <a:srgbClr val="278F4D"/>
                </a:solidFill>
                <a:latin typeface="Malgun Gothic"/>
              </a:rPr>
              <a:t>ΔE 우월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Conclusion — Dual-Metric Reporting을 표준으로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algun Gothic"/>
              </a:rPr>
              <a:t>HD + ΔE Dual-Metric α-Difficulty Spectroscopy — Yideun Kim, KNU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2801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algun Gothic"/>
              </a:rPr>
              <a:t>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3385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3A68"/>
                </a:solidFill>
                <a:latin typeface="Malgun Gothic"/>
              </a:rPr>
              <a:t>본 연구의 4가지 기여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2286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E57300"/>
                </a:solidFill>
                <a:latin typeface="Malgun Gothic"/>
              </a:rPr>
              <a:t>① </a:t>
            </a:r>
            <a:r>
              <a:rPr sz="1500" b="1">
                <a:solidFill>
                  <a:srgbClr val="101010"/>
                </a:solidFill>
                <a:latin typeface="Malgun Gothic"/>
              </a:rPr>
              <a:t>Per-sample 이중 로깅 도입</a:t>
            </a:r>
            <a:r>
              <a:rPr sz="1400" b="0">
                <a:solidFill>
                  <a:srgbClr val="555555"/>
                </a:solidFill>
                <a:latin typeface="Malgun Gothic"/>
              </a:rPr>
              <a:t> — HD와 ΔE를 표본별 모두 기록, 5.0×10⁵ rows raw CSV 공개</a:t>
            </a:r>
          </a:p>
          <a:p>
            <a:pPr algn="l"/>
            <a:r>
              <a:rPr sz="600" b="0">
                <a:solidFill>
                  <a:srgbClr val="101010"/>
                </a:solidFill>
                <a:latin typeface="Malgun Gothic"/>
              </a:rPr>
              <a:t/>
            </a:r>
          </a:p>
          <a:p>
            <a:pPr algn="l"/>
            <a:r>
              <a:rPr sz="1600" b="1">
                <a:solidFill>
                  <a:srgbClr val="E57300"/>
                </a:solidFill>
                <a:latin typeface="Malgun Gothic"/>
              </a:rPr>
              <a:t>② </a:t>
            </a:r>
            <a:r>
              <a:rPr sz="1500" b="1">
                <a:solidFill>
                  <a:srgbClr val="101010"/>
                </a:solidFill>
                <a:latin typeface="Malgun Gothic"/>
              </a:rPr>
              <a:t>4가지 영역 분리 발견</a:t>
            </a:r>
            <a:r>
              <a:rPr sz="1400" b="0">
                <a:solidFill>
                  <a:srgbClr val="555555"/>
                </a:solidFill>
                <a:latin typeface="Malgun Gothic"/>
              </a:rPr>
              <a:t> — α=0 degeneracy 지문, Valley plateau, α=10⁻² peak, cliff escape</a:t>
            </a:r>
          </a:p>
          <a:p>
            <a:pPr algn="l"/>
            <a:r>
              <a:rPr sz="600" b="0">
                <a:solidFill>
                  <a:srgbClr val="101010"/>
                </a:solidFill>
                <a:latin typeface="Malgun Gothic"/>
              </a:rPr>
              <a:t/>
            </a:r>
          </a:p>
          <a:p>
            <a:pPr algn="l"/>
            <a:r>
              <a:rPr sz="1600" b="1">
                <a:solidFill>
                  <a:srgbClr val="E57300"/>
                </a:solidFill>
                <a:latin typeface="Malgun Gothic"/>
              </a:rPr>
              <a:t>③ </a:t>
            </a:r>
            <a:r>
              <a:rPr sz="1500" b="1">
                <a:solidFill>
                  <a:srgbClr val="101010"/>
                </a:solidFill>
                <a:latin typeface="Malgun Gothic"/>
              </a:rPr>
              <a:t>Cliff 영역 고해상 측정</a:t>
            </a:r>
            <a:r>
              <a:rPr sz="1400" b="0">
                <a:solidFill>
                  <a:srgbClr val="555555"/>
                </a:solidFill>
                <a:latin typeface="Malgun Gothic"/>
              </a:rPr>
              <a:t> — α∈{0.02, 0.04, 0.07} 신규 3점으로 escape 동역학 해상</a:t>
            </a:r>
          </a:p>
          <a:p>
            <a:pPr algn="l"/>
            <a:r>
              <a:rPr sz="600" b="0">
                <a:solidFill>
                  <a:srgbClr val="101010"/>
                </a:solidFill>
                <a:latin typeface="Malgun Gothic"/>
              </a:rPr>
              <a:t/>
            </a:r>
          </a:p>
          <a:p>
            <a:pPr algn="l"/>
            <a:r>
              <a:rPr sz="1600" b="1">
                <a:solidFill>
                  <a:srgbClr val="E57300"/>
                </a:solidFill>
                <a:latin typeface="Malgun Gothic"/>
              </a:rPr>
              <a:t>④ </a:t>
            </a:r>
            <a:r>
              <a:rPr sz="1500" b="1">
                <a:solidFill>
                  <a:srgbClr val="101010"/>
                </a:solidFill>
                <a:latin typeface="Malgun Gothic"/>
              </a:rPr>
              <a:t>Dual-metric reporting 권고</a:t>
            </a:r>
            <a:r>
              <a:rPr sz="1400" b="0">
                <a:solidFill>
                  <a:srgbClr val="555555"/>
                </a:solidFill>
                <a:latin typeface="Malgun Gothic"/>
              </a:rPr>
              <a:t> — 단일 지표는 환원 불가 정보 손실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11338560" cy="45720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113385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권고: 향후 QUBO 벤치마크 보고는 다음을 모두 공개해야 한다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97680"/>
            <a:ext cx="11338560" cy="201168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1097280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Malgun Gothic"/>
              </a:rPr>
              <a:t>1) </a:t>
            </a:r>
            <a:r>
              <a:rPr sz="1400" b="1">
                <a:solidFill>
                  <a:srgbClr val="101010"/>
                </a:solidFill>
                <a:latin typeface="Malgun Gothic"/>
              </a:rPr>
              <a:t>HD 평균 + 이봉 분포 표지</a:t>
            </a:r>
            <a:r>
              <a:rPr sz="1400" b="0">
                <a:solidFill>
                  <a:srgbClr val="555555"/>
                </a:solidFill>
                <a:latin typeface="Malgun Gothic"/>
              </a:rPr>
              <a:t> (α-trajectory + per-α violin)</a:t>
            </a:r>
          </a:p>
          <a:p>
            <a:pPr algn="l"/>
            <a:r>
              <a:rPr sz="1400" b="1">
                <a:solidFill>
                  <a:srgbClr val="1F3A68"/>
                </a:solidFill>
                <a:latin typeface="Malgun Gothic"/>
              </a:rPr>
              <a:t>2) </a:t>
            </a:r>
            <a:r>
              <a:rPr sz="1400" b="1">
                <a:solidFill>
                  <a:srgbClr val="101010"/>
                </a:solidFill>
                <a:latin typeface="Malgun Gothic"/>
              </a:rPr>
              <a:t>ΔE 평균 + peak 위치 + dynamic range 종료점</a:t>
            </a:r>
            <a:r>
              <a:rPr sz="1400" b="0">
                <a:solidFill>
                  <a:srgbClr val="555555"/>
                </a:solidFill>
                <a:latin typeface="Malgun Gothic"/>
              </a:rPr>
              <a:t> (symlog y로 부동소수점 한계까지 추적)</a:t>
            </a:r>
          </a:p>
          <a:p>
            <a:pPr algn="l"/>
            <a:r>
              <a:rPr sz="1400" b="1">
                <a:solidFill>
                  <a:srgbClr val="1F3A68"/>
                </a:solidFill>
                <a:latin typeface="Malgun Gothic"/>
              </a:rPr>
              <a:t>3) </a:t>
            </a:r>
            <a:r>
              <a:rPr sz="1400" b="0">
                <a:solidFill>
                  <a:srgbClr val="101010"/>
                </a:solidFill>
                <a:latin typeface="Malgun Gothic"/>
              </a:rPr>
              <a:t>기존 성공률은 </a:t>
            </a:r>
            <a:r>
              <a:rPr sz="1400" b="1">
                <a:solidFill>
                  <a:srgbClr val="E57300"/>
                </a:solidFill>
                <a:latin typeface="Malgun Gothic"/>
              </a:rPr>
              <a:t>보조 지표</a:t>
            </a:r>
            <a:r>
              <a:rPr sz="1400" b="0">
                <a:solidFill>
                  <a:srgbClr val="101010"/>
                </a:solidFill>
                <a:latin typeface="Malgun Gothic"/>
              </a:rPr>
              <a:t>로 격하</a:t>
            </a:r>
          </a:p>
          <a:p>
            <a:pPr algn="l"/>
            <a:r>
              <a:rPr sz="800" b="0">
                <a:solidFill>
                  <a:srgbClr val="101010"/>
                </a:solidFill>
                <a:latin typeface="Malgun Gothic"/>
              </a:rPr>
              <a:t/>
            </a:r>
          </a:p>
          <a:p>
            <a:pPr algn="l"/>
            <a:r>
              <a:rPr sz="1300" b="1">
                <a:solidFill>
                  <a:srgbClr val="1F3A68"/>
                </a:solidFill>
                <a:latin typeface="Malgun Gothic"/>
              </a:rPr>
              <a:t>향후: </a:t>
            </a:r>
            <a:r>
              <a:rPr sz="1300" b="0">
                <a:solidFill>
                  <a:srgbClr val="101010"/>
                </a:solidFill>
                <a:latin typeface="Malgun Gothic"/>
              </a:rPr>
              <a:t>(i) QPU 적용, (ii) HD×ΔE joint distribution, </a:t>
            </a:r>
            <a:r>
              <a:rPr sz="1300" b="0">
                <a:solidFill>
                  <a:srgbClr val="555555"/>
                </a:solidFill>
                <a:latin typeface="Malgun Gothic"/>
              </a:rPr>
              <a:t>(iii) Wishart/3-SAT/McEliece 확장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solidFill>
              <a:srgbClr val="F8F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286000"/>
            <a:ext cx="8503920" cy="73152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4114800"/>
            <a:ext cx="8503920" cy="36576"/>
          </a:xfrm>
          <a:prstGeom prst="rect">
            <a:avLst/>
          </a:prstGeom>
          <a:solidFill>
            <a:srgbClr val="E57300"/>
          </a:solidFill>
          <a:ln>
            <a:solidFill>
              <a:srgbClr val="E57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4712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5600" b="1">
                <a:solidFill>
                  <a:srgbClr val="1F3A68"/>
                </a:solidFill>
                <a:latin typeface="Malgun Gothic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1247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200" b="0">
                <a:solidFill>
                  <a:srgbClr val="555555"/>
                </a:solidFill>
                <a:latin typeface="Malgun Gothic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800" b="0">
                <a:solidFill>
                  <a:srgbClr val="101010"/>
                </a:solidFill>
                <a:latin typeface="Malgun Gothic"/>
              </a:rPr>
              <a:t>김이든 · Yideun Kim · Kangwon National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834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0">
                <a:solidFill>
                  <a:srgbClr val="555555"/>
                </a:solidFill>
                <a:latin typeface="Malgun Gothic"/>
              </a:rPr>
              <a:t>rladlems1031@gmail.com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